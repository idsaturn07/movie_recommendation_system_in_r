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Tex Gyre Bonum Bold" charset="1" panose="00000800000000000000"/>
      <p:regular r:id="rId26"/>
    </p:embeddedFont>
    <p:embeddedFont>
      <p:font typeface="Tex Gyre Bonum" charset="1" panose="000005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kaggle.com/datasets/rounakbanik/the-movies-dataset?select=movies_metadata.csv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jpeg" Type="http://schemas.openxmlformats.org/officeDocument/2006/relationships/image"/><Relationship Id="rId4" Target="../media/image11.jpeg" Type="http://schemas.openxmlformats.org/officeDocument/2006/relationships/image"/><Relationship Id="rId5" Target="../media/image1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17.jpeg" Type="http://schemas.openxmlformats.org/officeDocument/2006/relationships/image"/><Relationship Id="rId4" Target="../media/image18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Relationship Id="rId3" Target="../media/image23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://github.com/idsaturn07/movie_recommendation_system_in_R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77217" y="1375083"/>
            <a:ext cx="12333566" cy="2030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sz="5799" b="true">
                <a:solidFill>
                  <a:srgbClr val="AAF386"/>
                </a:solidFill>
                <a:latin typeface="Tex Gyre Bonum Bold"/>
                <a:ea typeface="Tex Gyre Bonum Bold"/>
                <a:cs typeface="Tex Gyre Bonum Bold"/>
                <a:sym typeface="Tex Gyre Bonum Bold"/>
              </a:rPr>
              <a:t>CineMatch: </a:t>
            </a:r>
          </a:p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b="true" sz="5799">
                <a:solidFill>
                  <a:srgbClr val="AAF386"/>
                </a:solidFill>
                <a:latin typeface="Tex Gyre Bonum Bold"/>
                <a:ea typeface="Tex Gyre Bonum Bold"/>
                <a:cs typeface="Tex Gyre Bonum Bold"/>
                <a:sym typeface="Tex Gyre Bonum Bold"/>
              </a:rPr>
              <a:t>Movie Recommendation System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139747" y="4823838"/>
            <a:ext cx="7805806" cy="2601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Inchara M P        (2023BCS0129)</a:t>
            </a:r>
          </a:p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Jadi Hemarupini (2023BCS0126)</a:t>
            </a:r>
          </a:p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Deepanjali Tudu  (2023BCS0066)</a:t>
            </a:r>
          </a:p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Praneetha Pillai   (2023BCS0207)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47775"/>
            <a:ext cx="7566988" cy="1645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03"/>
              </a:lnSpc>
              <a:spcBef>
                <a:spcPct val="0"/>
              </a:spcBef>
            </a:pPr>
            <a:r>
              <a:rPr lang="en-US" sz="7130">
                <a:solidFill>
                  <a:srgbClr val="AAF38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P</a:t>
            </a:r>
            <a:r>
              <a:rPr lang="en-US" sz="7130">
                <a:solidFill>
                  <a:srgbClr val="AAF38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roblem Statement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12669" y="3456508"/>
            <a:ext cx="8456504" cy="4040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5" indent="-356233" lvl="1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sz="3299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T</a:t>
            </a:r>
            <a:r>
              <a:rPr lang="en-US" sz="3299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oo many movies available (50,000+)</a:t>
            </a:r>
          </a:p>
          <a:p>
            <a:pPr algn="l" marL="712465" indent="-356233" lvl="1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sz="3299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Users can’t easily find what to watch</a:t>
            </a:r>
          </a:p>
          <a:p>
            <a:pPr algn="l" marL="712465" indent="-356233" lvl="1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sz="3299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Most systems recommend only popular movies</a:t>
            </a:r>
          </a:p>
          <a:p>
            <a:pPr algn="l" marL="712465" indent="-356233" lvl="1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sz="3299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Need better and personalised recommendations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9144000" y="3570808"/>
            <a:ext cx="8522098" cy="2541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3300"/>
              </a:lnSpc>
              <a:buFont typeface="Arial"/>
              <a:buChar char="•"/>
            </a:pPr>
            <a:r>
              <a:rPr lang="en-US" sz="3300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Analyse movie dataset</a:t>
            </a:r>
          </a:p>
          <a:p>
            <a:pPr algn="l" marL="712470" indent="-356235" lvl="1">
              <a:lnSpc>
                <a:spcPts val="3300"/>
              </a:lnSpc>
              <a:buFont typeface="Arial"/>
              <a:buChar char="•"/>
            </a:pPr>
            <a:r>
              <a:rPr lang="en-US" sz="3300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Build recommendation system using TF-IDF</a:t>
            </a:r>
          </a:p>
          <a:p>
            <a:pPr algn="l" marL="712470" indent="-356235" lvl="1">
              <a:lnSpc>
                <a:spcPts val="3300"/>
              </a:lnSpc>
              <a:buFont typeface="Arial"/>
              <a:buChar char="•"/>
            </a:pPr>
            <a:r>
              <a:rPr lang="en-US" sz="3300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U</a:t>
            </a:r>
            <a:r>
              <a:rPr lang="en-US" sz="3300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se similarity to suggest movies</a:t>
            </a:r>
          </a:p>
          <a:p>
            <a:pPr algn="l" marL="712470" indent="-356235" lvl="1">
              <a:lnSpc>
                <a:spcPts val="3300"/>
              </a:lnSpc>
              <a:buFont typeface="Arial"/>
              <a:buChar char="•"/>
            </a:pPr>
            <a:r>
              <a:rPr lang="en-US" sz="3300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Improve recommendation quality</a:t>
            </a:r>
          </a:p>
          <a:p>
            <a:pPr algn="l" marL="0" indent="0" lvl="0">
              <a:lnSpc>
                <a:spcPts val="330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9385308" y="1535413"/>
            <a:ext cx="8902692" cy="854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64"/>
              </a:lnSpc>
              <a:spcBef>
                <a:spcPct val="0"/>
              </a:spcBef>
            </a:pPr>
            <a:r>
              <a:rPr lang="en-US" sz="7201">
                <a:solidFill>
                  <a:srgbClr val="AAF38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Objective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00672" y="1175900"/>
            <a:ext cx="2762131" cy="986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AAF38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Dataset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78714" y="2675987"/>
            <a:ext cx="15584103" cy="398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12" indent="-410206" lvl="1">
              <a:lnSpc>
                <a:spcPts val="5319"/>
              </a:lnSpc>
              <a:spcBef>
                <a:spcPct val="0"/>
              </a:spcBef>
              <a:buFont typeface="Arial"/>
              <a:buChar char="•"/>
            </a:pPr>
            <a:r>
              <a:rPr lang="en-US" sz="3799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So</a:t>
            </a:r>
            <a:r>
              <a:rPr lang="en-US" sz="3799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urce: TMDB (Kaggle)</a:t>
            </a:r>
          </a:p>
          <a:p>
            <a:pPr algn="l" marL="820412" indent="-410206" lvl="1">
              <a:lnSpc>
                <a:spcPts val="5319"/>
              </a:lnSpc>
              <a:spcBef>
                <a:spcPct val="0"/>
              </a:spcBef>
              <a:buFont typeface="Arial"/>
              <a:buChar char="•"/>
            </a:pPr>
            <a:r>
              <a:rPr lang="en-US" sz="3799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45,000+ movies</a:t>
            </a:r>
          </a:p>
          <a:p>
            <a:pPr algn="l" marL="820412" indent="-410206" lvl="1">
              <a:lnSpc>
                <a:spcPts val="5319"/>
              </a:lnSpc>
              <a:spcBef>
                <a:spcPct val="0"/>
              </a:spcBef>
              <a:buFont typeface="Arial"/>
              <a:buChar char="•"/>
            </a:pPr>
            <a:r>
              <a:rPr lang="en-US" sz="3799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Important fields: title, genres, overview</a:t>
            </a:r>
          </a:p>
          <a:p>
            <a:pPr algn="l" marL="820412" indent="-410206" lvl="1">
              <a:lnSpc>
                <a:spcPts val="5319"/>
              </a:lnSpc>
              <a:spcBef>
                <a:spcPct val="0"/>
              </a:spcBef>
              <a:buFont typeface="Arial"/>
              <a:buChar char="•"/>
            </a:pPr>
            <a:r>
              <a:rPr lang="en-US" sz="3799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D</a:t>
            </a:r>
            <a:r>
              <a:rPr lang="en-US" sz="3799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ata needed cleaning before use</a:t>
            </a:r>
          </a:p>
          <a:p>
            <a:pPr algn="l" marL="820412" indent="-410206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link:</a:t>
            </a:r>
            <a:r>
              <a:rPr lang="en-US" sz="3799" u="sng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  <a:hlinkClick r:id="rId2" tooltip="https://www.kaggle.com/datasets/rounakbanik/the-movies-dataset?select=movies_metadata.csv"/>
              </a:rPr>
              <a:t>https://www.kaggle.com/datasets/rounakbanik/the-movies-dataset?select=movies_metadata.csv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23205" y="913337"/>
            <a:ext cx="14641589" cy="2052589"/>
          </a:xfrm>
          <a:custGeom>
            <a:avLst/>
            <a:gdLst/>
            <a:ahLst/>
            <a:cxnLst/>
            <a:rect r="r" b="b" t="t" l="l"/>
            <a:pathLst>
              <a:path h="2052589" w="14641589">
                <a:moveTo>
                  <a:pt x="0" y="0"/>
                </a:moveTo>
                <a:lnTo>
                  <a:pt x="14641590" y="0"/>
                </a:lnTo>
                <a:lnTo>
                  <a:pt x="14641590" y="2052589"/>
                </a:lnTo>
                <a:lnTo>
                  <a:pt x="0" y="20525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951" r="0" b="-595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23205" y="3213576"/>
            <a:ext cx="14641589" cy="1929924"/>
          </a:xfrm>
          <a:custGeom>
            <a:avLst/>
            <a:gdLst/>
            <a:ahLst/>
            <a:cxnLst/>
            <a:rect r="r" b="b" t="t" l="l"/>
            <a:pathLst>
              <a:path h="1929924" w="14641589">
                <a:moveTo>
                  <a:pt x="0" y="0"/>
                </a:moveTo>
                <a:lnTo>
                  <a:pt x="14641590" y="0"/>
                </a:lnTo>
                <a:lnTo>
                  <a:pt x="14641590" y="1929924"/>
                </a:lnTo>
                <a:lnTo>
                  <a:pt x="0" y="19299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951" r="0" b="-595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23205" y="5391150"/>
            <a:ext cx="14641589" cy="1790904"/>
          </a:xfrm>
          <a:custGeom>
            <a:avLst/>
            <a:gdLst/>
            <a:ahLst/>
            <a:cxnLst/>
            <a:rect r="r" b="b" t="t" l="l"/>
            <a:pathLst>
              <a:path h="1790904" w="14641589">
                <a:moveTo>
                  <a:pt x="0" y="0"/>
                </a:moveTo>
                <a:lnTo>
                  <a:pt x="14641590" y="0"/>
                </a:lnTo>
                <a:lnTo>
                  <a:pt x="14641590" y="1790904"/>
                </a:lnTo>
                <a:lnTo>
                  <a:pt x="0" y="17909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951" r="0" b="-595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23205" y="7429704"/>
            <a:ext cx="14641589" cy="2068944"/>
          </a:xfrm>
          <a:custGeom>
            <a:avLst/>
            <a:gdLst/>
            <a:ahLst/>
            <a:cxnLst/>
            <a:rect r="r" b="b" t="t" l="l"/>
            <a:pathLst>
              <a:path h="2068944" w="14641589">
                <a:moveTo>
                  <a:pt x="0" y="0"/>
                </a:moveTo>
                <a:lnTo>
                  <a:pt x="14641590" y="0"/>
                </a:lnTo>
                <a:lnTo>
                  <a:pt x="14641590" y="2068944"/>
                </a:lnTo>
                <a:lnTo>
                  <a:pt x="0" y="20689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951" r="0" b="-5951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1698" y="693209"/>
            <a:ext cx="17424604" cy="8900582"/>
          </a:xfrm>
          <a:custGeom>
            <a:avLst/>
            <a:gdLst/>
            <a:ahLst/>
            <a:cxnLst/>
            <a:rect r="r" b="b" t="t" l="l"/>
            <a:pathLst>
              <a:path h="8900582" w="17424604">
                <a:moveTo>
                  <a:pt x="0" y="0"/>
                </a:moveTo>
                <a:lnTo>
                  <a:pt x="17424604" y="0"/>
                </a:lnTo>
                <a:lnTo>
                  <a:pt x="17424604" y="8900582"/>
                </a:lnTo>
                <a:lnTo>
                  <a:pt x="0" y="89005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45" t="-6065" r="-2545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01788" y="2492430"/>
            <a:ext cx="11301259" cy="6643502"/>
          </a:xfrm>
          <a:custGeom>
            <a:avLst/>
            <a:gdLst/>
            <a:ahLst/>
            <a:cxnLst/>
            <a:rect r="r" b="b" t="t" l="l"/>
            <a:pathLst>
              <a:path h="6643502" w="11301259">
                <a:moveTo>
                  <a:pt x="0" y="0"/>
                </a:moveTo>
                <a:lnTo>
                  <a:pt x="11301259" y="0"/>
                </a:lnTo>
                <a:lnTo>
                  <a:pt x="11301259" y="6643501"/>
                </a:lnTo>
                <a:lnTo>
                  <a:pt x="0" y="66435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79" t="0" r="-3079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14400"/>
            <a:ext cx="7535109" cy="913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sz="5299">
                <a:solidFill>
                  <a:srgbClr val="AAF38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Missing Value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85675" y="2303386"/>
            <a:ext cx="5583011" cy="6954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4515" indent="-357258" lvl="1">
              <a:lnSpc>
                <a:spcPts val="4633"/>
              </a:lnSpc>
              <a:buFont typeface="Arial"/>
              <a:buChar char="•"/>
            </a:pPr>
            <a:r>
              <a:rPr lang="en-US" sz="3309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Identified missing values across all columns before cleaning</a:t>
            </a:r>
          </a:p>
          <a:p>
            <a:pPr algn="l" marL="714515" indent="-357258" lvl="1">
              <a:lnSpc>
                <a:spcPts val="4633"/>
              </a:lnSpc>
              <a:buFont typeface="Arial"/>
              <a:buChar char="•"/>
            </a:pPr>
            <a:r>
              <a:rPr lang="en-US" sz="3309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Columns with significant missing data: overview, genres, popularity</a:t>
            </a:r>
          </a:p>
          <a:p>
            <a:pPr algn="l" marL="714515" indent="-357258" lvl="1">
              <a:lnSpc>
                <a:spcPts val="4633"/>
              </a:lnSpc>
              <a:buFont typeface="Arial"/>
              <a:buChar char="•"/>
            </a:pPr>
            <a:r>
              <a:rPr lang="en-US" sz="3309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Visualised distribution of missingness to prioritise cleaning steps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90301" y="2517271"/>
            <a:ext cx="8287969" cy="6653511"/>
          </a:xfrm>
          <a:custGeom>
            <a:avLst/>
            <a:gdLst/>
            <a:ahLst/>
            <a:cxnLst/>
            <a:rect r="r" b="b" t="t" l="l"/>
            <a:pathLst>
              <a:path h="6653511" w="8287969">
                <a:moveTo>
                  <a:pt x="0" y="0"/>
                </a:moveTo>
                <a:lnTo>
                  <a:pt x="8287968" y="0"/>
                </a:lnTo>
                <a:lnTo>
                  <a:pt x="8287968" y="6653510"/>
                </a:lnTo>
                <a:lnTo>
                  <a:pt x="0" y="66535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2" t="0" r="-2963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2217" y="1178413"/>
            <a:ext cx="7265239" cy="979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55"/>
              </a:lnSpc>
              <a:spcBef>
                <a:spcPct val="0"/>
              </a:spcBef>
            </a:pPr>
            <a:r>
              <a:rPr lang="en-US" sz="5682">
                <a:solidFill>
                  <a:srgbClr val="AAF38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Data Cleaning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42217" y="2681767"/>
            <a:ext cx="8865688" cy="5887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1667" indent="-360834" lvl="1">
              <a:lnSpc>
                <a:spcPts val="4679"/>
              </a:lnSpc>
              <a:buAutoNum type="arabicPeriod" startAt="1"/>
            </a:pPr>
            <a:r>
              <a:rPr lang="en-US" sz="3342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Removed rows with missing title, genre, or overview (nchar &gt; 10)</a:t>
            </a:r>
          </a:p>
          <a:p>
            <a:pPr algn="l" marL="721667" indent="-360834" lvl="1">
              <a:lnSpc>
                <a:spcPts val="4679"/>
              </a:lnSpc>
              <a:buAutoNum type="arabicPeriod" startAt="1"/>
            </a:pPr>
            <a:r>
              <a:rPr lang="en-US" sz="3342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Identified and removed non-numeric popularity values</a:t>
            </a:r>
          </a:p>
          <a:p>
            <a:pPr algn="l" marL="721667" indent="-360834" lvl="1">
              <a:lnSpc>
                <a:spcPts val="4679"/>
              </a:lnSpc>
              <a:buAutoNum type="arabicPeriod" startAt="1"/>
            </a:pPr>
            <a:r>
              <a:rPr lang="en-US" sz="3342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Filtered invalid ranges: vote_average 0–10, popularity ≥ 0</a:t>
            </a:r>
          </a:p>
          <a:p>
            <a:pPr algn="l" marL="721667" indent="-360834" lvl="1">
              <a:lnSpc>
                <a:spcPts val="4679"/>
              </a:lnSpc>
              <a:buAutoNum type="arabicPeriod" startAt="1"/>
            </a:pPr>
            <a:r>
              <a:rPr lang="en-US" sz="3342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Deduplicated by title — kept row with highest vote_count</a:t>
            </a:r>
          </a:p>
          <a:p>
            <a:pPr algn="l" marL="721667" indent="-360834" lvl="1">
              <a:lnSpc>
                <a:spcPts val="4679"/>
              </a:lnSpc>
              <a:buAutoNum type="arabicPeriod" startAt="1"/>
            </a:pPr>
            <a:r>
              <a:rPr lang="en-US" sz="3342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Raw 45,000 → cleaned dataset ready for modelling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375023"/>
            <a:ext cx="10144830" cy="815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52"/>
              </a:lnSpc>
              <a:spcBef>
                <a:spcPct val="0"/>
              </a:spcBef>
            </a:pPr>
            <a:r>
              <a:rPr lang="en-US" sz="6726">
                <a:solidFill>
                  <a:srgbClr val="AAF38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Data Preprocessing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92349" y="2896202"/>
            <a:ext cx="15466951" cy="5304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8"/>
              </a:lnSpc>
            </a:pPr>
            <a:r>
              <a:rPr lang="en-US" sz="3770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Data preprocessing was performed to prepare the dataset for modeling.</a:t>
            </a:r>
          </a:p>
          <a:p>
            <a:pPr algn="l" marL="814094" indent="-407047" lvl="1">
              <a:lnSpc>
                <a:spcPts val="5278"/>
              </a:lnSpc>
              <a:buFont typeface="Arial"/>
              <a:buChar char="•"/>
            </a:pPr>
            <a:r>
              <a:rPr lang="en-US" sz="3770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Handling missing values</a:t>
            </a:r>
          </a:p>
          <a:p>
            <a:pPr algn="l" marL="814094" indent="-407047" lvl="1">
              <a:lnSpc>
                <a:spcPts val="5278"/>
              </a:lnSpc>
              <a:buFont typeface="Arial"/>
              <a:buChar char="•"/>
            </a:pPr>
            <a:r>
              <a:rPr lang="en-US" sz="3770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Cleaning and formatting text data</a:t>
            </a:r>
          </a:p>
          <a:p>
            <a:pPr algn="l" marL="814094" indent="-407047" lvl="1">
              <a:lnSpc>
                <a:spcPts val="5278"/>
              </a:lnSpc>
              <a:buFont typeface="Arial"/>
              <a:buChar char="•"/>
            </a:pPr>
            <a:r>
              <a:rPr lang="en-US" sz="3770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Extracting genre information</a:t>
            </a:r>
          </a:p>
          <a:p>
            <a:pPr algn="l" marL="814094" indent="-407047" lvl="1">
              <a:lnSpc>
                <a:spcPts val="5278"/>
              </a:lnSpc>
              <a:buFont typeface="Arial"/>
              <a:buChar char="•"/>
            </a:pPr>
            <a:r>
              <a:rPr lang="en-US" sz="3770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Creating content feature (genres + overview)</a:t>
            </a:r>
          </a:p>
          <a:p>
            <a:pPr algn="l">
              <a:lnSpc>
                <a:spcPts val="5278"/>
              </a:lnSpc>
            </a:pPr>
            <a:r>
              <a:rPr lang="en-US" sz="3770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Raw Data → Clean Data → Feature Creation</a:t>
            </a:r>
          </a:p>
          <a:p>
            <a:pPr algn="l">
              <a:lnSpc>
                <a:spcPts val="5278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29094" y="3099114"/>
            <a:ext cx="11301259" cy="6159186"/>
          </a:xfrm>
          <a:custGeom>
            <a:avLst/>
            <a:gdLst/>
            <a:ahLst/>
            <a:cxnLst/>
            <a:rect r="r" b="b" t="t" l="l"/>
            <a:pathLst>
              <a:path h="6159186" w="11301259">
                <a:moveTo>
                  <a:pt x="0" y="0"/>
                </a:moveTo>
                <a:lnTo>
                  <a:pt x="11301259" y="0"/>
                </a:lnTo>
                <a:lnTo>
                  <a:pt x="11301259" y="6159186"/>
                </a:lnTo>
                <a:lnTo>
                  <a:pt x="0" y="61591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07747"/>
            <a:ext cx="6680359" cy="913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sz="5299">
                <a:solidFill>
                  <a:srgbClr val="AAF38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Feature Engineering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38139" y="3346179"/>
            <a:ext cx="5844329" cy="2832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8041" indent="-349020" lvl="1">
              <a:lnSpc>
                <a:spcPts val="4526"/>
              </a:lnSpc>
              <a:buFont typeface="Arial"/>
              <a:buChar char="•"/>
            </a:pPr>
            <a:r>
              <a:rPr lang="en-US" sz="3233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Scaled popularity, rating, votes</a:t>
            </a:r>
          </a:p>
          <a:p>
            <a:pPr algn="l" marL="698041" indent="-349020" lvl="1">
              <a:lnSpc>
                <a:spcPts val="4526"/>
              </a:lnSpc>
              <a:buFont typeface="Arial"/>
              <a:buChar char="•"/>
            </a:pPr>
            <a:r>
              <a:rPr lang="en-US" sz="3233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Used log transform</a:t>
            </a:r>
          </a:p>
          <a:p>
            <a:pPr algn="l" marL="698041" indent="-349020" lvl="1">
              <a:lnSpc>
                <a:spcPts val="4526"/>
              </a:lnSpc>
              <a:buFont typeface="Arial"/>
              <a:buChar char="•"/>
            </a:pPr>
            <a:r>
              <a:rPr lang="en-US" sz="3233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Created final_score</a:t>
            </a:r>
          </a:p>
          <a:p>
            <a:pPr algn="l" marL="698041" indent="-349020" lvl="1">
              <a:lnSpc>
                <a:spcPts val="4526"/>
              </a:lnSpc>
              <a:buFont typeface="Arial"/>
              <a:buChar char="•"/>
            </a:pPr>
            <a:r>
              <a:rPr lang="en-US" sz="3233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Used for ranking movies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1201177" y="923925"/>
            <a:ext cx="15123508" cy="97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58"/>
              </a:lnSpc>
              <a:spcBef>
                <a:spcPct val="0"/>
              </a:spcBef>
            </a:pPr>
            <a:r>
              <a:rPr lang="en-US" sz="5755">
                <a:solidFill>
                  <a:srgbClr val="AAF38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Exploratory Data Analysis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092439" y="2088941"/>
            <a:ext cx="12236838" cy="702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70"/>
              </a:lnSpc>
            </a:pPr>
            <a:r>
              <a:rPr lang="en-US" sz="4336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Visualizations Used</a:t>
            </a:r>
          </a:p>
          <a:p>
            <a:pPr algn="l">
              <a:lnSpc>
                <a:spcPts val="4950"/>
              </a:lnSpc>
            </a:pPr>
            <a:r>
              <a:rPr lang="en-US" sz="3536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 </a:t>
            </a:r>
            <a:r>
              <a:rPr lang="en-US" sz="3536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• </a:t>
            </a:r>
            <a:r>
              <a:rPr lang="en-US" sz="3536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Ratings Distribution (Histogram)</a:t>
            </a:r>
          </a:p>
          <a:p>
            <a:pPr algn="l">
              <a:lnSpc>
                <a:spcPts val="4950"/>
              </a:lnSpc>
            </a:pPr>
            <a:r>
              <a:rPr lang="en-US" sz="3536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 • Popularity Distribution (Boxplot)</a:t>
            </a:r>
          </a:p>
          <a:p>
            <a:pPr algn="l">
              <a:lnSpc>
                <a:spcPts val="4950"/>
              </a:lnSpc>
            </a:pPr>
            <a:r>
              <a:rPr lang="en-US" sz="3536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 • Rating vs Popularity (Scatter Plot)</a:t>
            </a:r>
          </a:p>
          <a:p>
            <a:pPr algn="l">
              <a:lnSpc>
                <a:spcPts val="4950"/>
              </a:lnSpc>
            </a:pPr>
            <a:r>
              <a:rPr lang="en-US" sz="3536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 • Genre Distribution (Bar Chart)</a:t>
            </a:r>
          </a:p>
          <a:p>
            <a:pPr algn="l">
              <a:lnSpc>
                <a:spcPts val="6070"/>
              </a:lnSpc>
            </a:pPr>
            <a:r>
              <a:rPr lang="en-US" sz="4336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Observations</a:t>
            </a:r>
          </a:p>
          <a:p>
            <a:pPr algn="l">
              <a:lnSpc>
                <a:spcPts val="4950"/>
              </a:lnSpc>
            </a:pPr>
            <a:r>
              <a:rPr lang="en-US" sz="3536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 </a:t>
            </a:r>
            <a:r>
              <a:rPr lang="en-US" sz="3536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• </a:t>
            </a:r>
            <a:r>
              <a:rPr lang="en-US" sz="3536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Ratings mostly between 6–7 (normal distribution)</a:t>
            </a:r>
          </a:p>
          <a:p>
            <a:pPr algn="l">
              <a:lnSpc>
                <a:spcPts val="4950"/>
              </a:lnSpc>
            </a:pPr>
            <a:r>
              <a:rPr lang="en-US" sz="3536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 • Popularity is highly skewed with few extreme values</a:t>
            </a:r>
          </a:p>
          <a:p>
            <a:pPr algn="l">
              <a:lnSpc>
                <a:spcPts val="4950"/>
              </a:lnSpc>
            </a:pPr>
            <a:r>
              <a:rPr lang="en-US" sz="3536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 • Weak relation between rating &amp; popularity</a:t>
            </a:r>
          </a:p>
          <a:p>
            <a:pPr algn="l">
              <a:lnSpc>
                <a:spcPts val="4950"/>
              </a:lnSpc>
            </a:pPr>
            <a:r>
              <a:rPr lang="en-US" sz="3536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 • Drama, Comedy, Thriller are most common genres</a:t>
            </a:r>
          </a:p>
          <a:p>
            <a:pPr algn="l">
              <a:lnSpc>
                <a:spcPts val="3727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5168" y="156219"/>
            <a:ext cx="8673142" cy="4964435"/>
          </a:xfrm>
          <a:custGeom>
            <a:avLst/>
            <a:gdLst/>
            <a:ahLst/>
            <a:cxnLst/>
            <a:rect r="r" b="b" t="t" l="l"/>
            <a:pathLst>
              <a:path h="4964435" w="8673142">
                <a:moveTo>
                  <a:pt x="0" y="0"/>
                </a:moveTo>
                <a:lnTo>
                  <a:pt x="8673142" y="0"/>
                </a:lnTo>
                <a:lnTo>
                  <a:pt x="8673142" y="4964435"/>
                </a:lnTo>
                <a:lnTo>
                  <a:pt x="0" y="49644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9" r="0" b="-107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156219"/>
            <a:ext cx="8794608" cy="4964435"/>
          </a:xfrm>
          <a:custGeom>
            <a:avLst/>
            <a:gdLst/>
            <a:ahLst/>
            <a:cxnLst/>
            <a:rect r="r" b="b" t="t" l="l"/>
            <a:pathLst>
              <a:path h="4964435" w="8794608">
                <a:moveTo>
                  <a:pt x="0" y="0"/>
                </a:moveTo>
                <a:lnTo>
                  <a:pt x="8794608" y="0"/>
                </a:lnTo>
                <a:lnTo>
                  <a:pt x="8794608" y="4964435"/>
                </a:lnTo>
                <a:lnTo>
                  <a:pt x="0" y="49644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31" r="0" b="-89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75168" y="5316197"/>
            <a:ext cx="8673142" cy="4699387"/>
          </a:xfrm>
          <a:custGeom>
            <a:avLst/>
            <a:gdLst/>
            <a:ahLst/>
            <a:cxnLst/>
            <a:rect r="r" b="b" t="t" l="l"/>
            <a:pathLst>
              <a:path h="4699387" w="8673142">
                <a:moveTo>
                  <a:pt x="0" y="0"/>
                </a:moveTo>
                <a:lnTo>
                  <a:pt x="8673142" y="0"/>
                </a:lnTo>
                <a:lnTo>
                  <a:pt x="8673142" y="4699387"/>
                </a:lnTo>
                <a:lnTo>
                  <a:pt x="0" y="46993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984" r="0" b="-98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227732" y="5316197"/>
            <a:ext cx="8822577" cy="4699387"/>
          </a:xfrm>
          <a:custGeom>
            <a:avLst/>
            <a:gdLst/>
            <a:ahLst/>
            <a:cxnLst/>
            <a:rect r="r" b="b" t="t" l="l"/>
            <a:pathLst>
              <a:path h="4699387" w="8822577">
                <a:moveTo>
                  <a:pt x="0" y="0"/>
                </a:moveTo>
                <a:lnTo>
                  <a:pt x="8822577" y="0"/>
                </a:lnTo>
                <a:lnTo>
                  <a:pt x="8822577" y="4699387"/>
                </a:lnTo>
                <a:lnTo>
                  <a:pt x="0" y="46993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153" r="0" b="-3153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931519" y="942975"/>
            <a:ext cx="12366016" cy="860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86"/>
              </a:lnSpc>
              <a:spcBef>
                <a:spcPct val="0"/>
              </a:spcBef>
            </a:pPr>
            <a:r>
              <a:rPr lang="en-US" sz="5133">
                <a:solidFill>
                  <a:srgbClr val="AAF38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Text Preprocessing Pipeline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975287"/>
            <a:ext cx="16547078" cy="6922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3"/>
              </a:lnSpc>
            </a:pPr>
            <a:r>
              <a:rPr lang="en-US" sz="3309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Pipeline</a:t>
            </a:r>
          </a:p>
          <a:p>
            <a:pPr algn="l" marL="1267559" indent="-422520" lvl="2">
              <a:lnSpc>
                <a:spcPts val="4109"/>
              </a:lnSpc>
              <a:buFont typeface="Arial"/>
              <a:buChar char="⚬"/>
            </a:pPr>
            <a:r>
              <a:rPr lang="en-US" sz="2935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Raw Text → Lowercase → Remove Punctuation/Numbers</a:t>
            </a:r>
          </a:p>
          <a:p>
            <a:pPr algn="l">
              <a:lnSpc>
                <a:spcPts val="4109"/>
              </a:lnSpc>
            </a:pPr>
            <a:r>
              <a:rPr lang="en-US" sz="2935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   </a:t>
            </a:r>
            <a:r>
              <a:rPr lang="en-US" sz="2935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      → Remove Stop Words → Remove Noise Words → Strip Whitespace → Corpus</a:t>
            </a:r>
          </a:p>
          <a:p>
            <a:pPr algn="l">
              <a:lnSpc>
                <a:spcPts val="4633"/>
              </a:lnSpc>
            </a:pPr>
            <a:r>
              <a:rPr lang="en-US" sz="3309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Content Used</a:t>
            </a:r>
          </a:p>
          <a:p>
            <a:pPr algn="l" marL="1267559" indent="-422520" lvl="2">
              <a:lnSpc>
                <a:spcPts val="4109"/>
              </a:lnSpc>
              <a:buFont typeface="Arial"/>
              <a:buChar char="⚬"/>
            </a:pPr>
            <a:r>
              <a:rPr lang="en-US" sz="2935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Combined: genres, keywords, tagline, overview</a:t>
            </a:r>
          </a:p>
          <a:p>
            <a:pPr algn="l">
              <a:lnSpc>
                <a:spcPts val="4109"/>
              </a:lnSpc>
            </a:pPr>
            <a:r>
              <a:rPr lang="en-US" sz="2935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           Genres repeated twice to increase importance</a:t>
            </a:r>
          </a:p>
          <a:p>
            <a:pPr algn="l">
              <a:lnSpc>
                <a:spcPts val="4633"/>
              </a:lnSpc>
            </a:pPr>
            <a:r>
              <a:rPr lang="en-US" sz="3309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Noise Words Removed</a:t>
            </a:r>
          </a:p>
          <a:p>
            <a:pPr algn="l" marL="1267559" indent="-422520" lvl="2">
              <a:lnSpc>
                <a:spcPts val="4109"/>
              </a:lnSpc>
              <a:buFont typeface="Arial"/>
              <a:buChar char="⚬"/>
            </a:pPr>
            <a:r>
              <a:rPr lang="en-US" sz="2935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film, movie, story, life, world</a:t>
            </a:r>
          </a:p>
          <a:p>
            <a:pPr algn="l" marL="1267559" indent="-422520" lvl="2">
              <a:lnSpc>
                <a:spcPts val="4109"/>
              </a:lnSpc>
              <a:buFont typeface="Arial"/>
              <a:buChar char="⚬"/>
            </a:pPr>
            <a:r>
              <a:rPr lang="en-US" sz="2935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man, woman, one, two</a:t>
            </a:r>
          </a:p>
          <a:p>
            <a:pPr algn="l">
              <a:lnSpc>
                <a:spcPts val="4109"/>
              </a:lnSpc>
            </a:pPr>
            <a:r>
              <a:rPr lang="en-US" sz="2935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          find, must, new, will</a:t>
            </a:r>
          </a:p>
          <a:p>
            <a:pPr algn="l">
              <a:lnSpc>
                <a:spcPts val="4633"/>
              </a:lnSpc>
            </a:pPr>
            <a:r>
              <a:rPr lang="en-US" sz="3309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Result</a:t>
            </a:r>
          </a:p>
          <a:p>
            <a:pPr algn="l" marL="1267559" indent="-422520" lvl="2">
              <a:lnSpc>
                <a:spcPts val="4109"/>
              </a:lnSpc>
              <a:buFont typeface="Arial"/>
              <a:buChar char="⚬"/>
            </a:pPr>
            <a:r>
              <a:rPr lang="en-US" sz="2935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Clean text data ready for TF-IDF</a:t>
            </a:r>
          </a:p>
          <a:p>
            <a:pPr algn="l">
              <a:lnSpc>
                <a:spcPts val="3969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14755" y="498099"/>
            <a:ext cx="14458490" cy="9290803"/>
          </a:xfrm>
          <a:custGeom>
            <a:avLst/>
            <a:gdLst/>
            <a:ahLst/>
            <a:cxnLst/>
            <a:rect r="r" b="b" t="t" l="l"/>
            <a:pathLst>
              <a:path h="9290803" w="14458490">
                <a:moveTo>
                  <a:pt x="0" y="0"/>
                </a:moveTo>
                <a:lnTo>
                  <a:pt x="14458490" y="0"/>
                </a:lnTo>
                <a:lnTo>
                  <a:pt x="14458490" y="9290802"/>
                </a:lnTo>
                <a:lnTo>
                  <a:pt x="0" y="9290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" r="-7539" b="-2337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59524" y="3763791"/>
            <a:ext cx="9436813" cy="5757499"/>
          </a:xfrm>
          <a:custGeom>
            <a:avLst/>
            <a:gdLst/>
            <a:ahLst/>
            <a:cxnLst/>
            <a:rect r="r" b="b" t="t" l="l"/>
            <a:pathLst>
              <a:path h="5757499" w="9436813">
                <a:moveTo>
                  <a:pt x="0" y="0"/>
                </a:moveTo>
                <a:lnTo>
                  <a:pt x="9436813" y="0"/>
                </a:lnTo>
                <a:lnTo>
                  <a:pt x="9436813" y="5757499"/>
                </a:lnTo>
                <a:lnTo>
                  <a:pt x="0" y="57574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27" r="0" b="-15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56979" y="1943874"/>
            <a:ext cx="13356360" cy="323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8"/>
              </a:lnSpc>
              <a:spcBef>
                <a:spcPct val="0"/>
              </a:spcBef>
            </a:pPr>
            <a:r>
              <a:rPr lang="en-US" sz="3055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TF-IDF = Term Frequency × Inverse Document Frequency</a:t>
            </a:r>
          </a:p>
          <a:p>
            <a:pPr algn="l">
              <a:lnSpc>
                <a:spcPts val="4278"/>
              </a:lnSpc>
              <a:spcBef>
                <a:spcPct val="0"/>
              </a:spcBef>
            </a:pPr>
            <a:r>
              <a:rPr lang="en-US" sz="3055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• Gives higher weight to words frequent in one movie but rare  overall</a:t>
            </a:r>
          </a:p>
          <a:p>
            <a:pPr algn="l">
              <a:lnSpc>
                <a:spcPts val="4278"/>
              </a:lnSpc>
              <a:spcBef>
                <a:spcPct val="0"/>
              </a:spcBef>
            </a:pPr>
            <a:r>
              <a:rPr lang="en-US" sz="3055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• Parameters: minimum 2 documents per term, word length ≥ 3</a:t>
            </a:r>
          </a:p>
          <a:p>
            <a:pPr algn="l">
              <a:lnSpc>
                <a:spcPts val="4278"/>
              </a:lnSpc>
              <a:spcBef>
                <a:spcPct val="0"/>
              </a:spcBef>
            </a:pPr>
            <a:r>
              <a:rPr lang="en-US" sz="3055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• Result: sparse matrix (3000 × 8037)</a:t>
            </a:r>
          </a:p>
          <a:p>
            <a:pPr algn="l">
              <a:lnSpc>
                <a:spcPts val="4278"/>
              </a:lnSpc>
              <a:spcBef>
                <a:spcPct val="0"/>
              </a:spcBef>
            </a:pPr>
            <a:r>
              <a:rPr lang="en-US" sz="3055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• Each row represents a movie as</a:t>
            </a:r>
          </a:p>
          <a:p>
            <a:pPr algn="l">
              <a:lnSpc>
                <a:spcPts val="4278"/>
              </a:lnSpc>
            </a:pPr>
            <a:r>
              <a:rPr lang="en-US" sz="3055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    a weighted term vector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942975"/>
            <a:ext cx="7660039" cy="778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>
                <a:solidFill>
                  <a:srgbClr val="AAF38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TF-IDF Vectorisation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2698151"/>
            <a:ext cx="8615302" cy="5847636"/>
          </a:xfrm>
          <a:custGeom>
            <a:avLst/>
            <a:gdLst/>
            <a:ahLst/>
            <a:cxnLst/>
            <a:rect r="r" b="b" t="t" l="l"/>
            <a:pathLst>
              <a:path h="5847636" w="8615302">
                <a:moveTo>
                  <a:pt x="0" y="0"/>
                </a:moveTo>
                <a:lnTo>
                  <a:pt x="8615302" y="0"/>
                </a:lnTo>
                <a:lnTo>
                  <a:pt x="8615302" y="5847637"/>
                </a:lnTo>
                <a:lnTo>
                  <a:pt x="0" y="58476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08156"/>
            <a:ext cx="7114818" cy="795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79"/>
              </a:lnSpc>
              <a:spcBef>
                <a:spcPct val="0"/>
              </a:spcBef>
            </a:pPr>
            <a:r>
              <a:rPr lang="en-US" sz="4699">
                <a:solidFill>
                  <a:srgbClr val="AAF38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Cosine Similarity Matrix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8713" y="2889116"/>
            <a:ext cx="8645287" cy="5408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1671" indent="-330835" lvl="1">
              <a:lnSpc>
                <a:spcPts val="4290"/>
              </a:lnSpc>
              <a:buFont typeface="Arial"/>
              <a:buChar char="•"/>
            </a:pPr>
            <a:r>
              <a:rPr lang="en-US" sz="3064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TF-IDF matrix normalised (L2 norm per row)</a:t>
            </a:r>
          </a:p>
          <a:p>
            <a:pPr algn="l" marL="661671" indent="-330835" lvl="1">
              <a:lnSpc>
                <a:spcPts val="4290"/>
              </a:lnSpc>
              <a:buFont typeface="Arial"/>
              <a:buChar char="•"/>
            </a:pPr>
            <a:r>
              <a:rPr lang="en-US" sz="3064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Cosine similarity = dot product of two normalised vectors</a:t>
            </a:r>
          </a:p>
          <a:p>
            <a:pPr algn="l" marL="661671" indent="-330835" lvl="1">
              <a:lnSpc>
                <a:spcPts val="4290"/>
              </a:lnSpc>
              <a:buFont typeface="Arial"/>
              <a:buChar char="•"/>
            </a:pPr>
            <a:r>
              <a:rPr lang="en-US" sz="3064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Result: 3,000 × 3,000 pairwise similarity matrix</a:t>
            </a:r>
          </a:p>
          <a:p>
            <a:pPr algn="l" marL="661671" indent="-330835" lvl="1">
              <a:lnSpc>
                <a:spcPts val="4290"/>
              </a:lnSpc>
              <a:buFont typeface="Arial"/>
              <a:buChar char="•"/>
            </a:pPr>
            <a:r>
              <a:rPr lang="en-US" sz="3064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Value of 1 = identical content, 0 = no overlap</a:t>
            </a:r>
          </a:p>
          <a:p>
            <a:pPr algn="l" marL="661671" indent="-330835" lvl="1">
              <a:lnSpc>
                <a:spcPts val="4290"/>
              </a:lnSpc>
              <a:buFont typeface="Arial"/>
              <a:buChar char="•"/>
            </a:pPr>
            <a:r>
              <a:rPr lang="en-US" sz="3064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Matrix computed as: tfidf_norm %*% t(tfidf_norm)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77579" y="4543943"/>
            <a:ext cx="11301259" cy="791088"/>
          </a:xfrm>
          <a:custGeom>
            <a:avLst/>
            <a:gdLst/>
            <a:ahLst/>
            <a:cxnLst/>
            <a:rect r="r" b="b" t="t" l="l"/>
            <a:pathLst>
              <a:path h="791088" w="11301259">
                <a:moveTo>
                  <a:pt x="0" y="0"/>
                </a:moveTo>
                <a:lnTo>
                  <a:pt x="11301259" y="0"/>
                </a:lnTo>
                <a:lnTo>
                  <a:pt x="11301259" y="791088"/>
                </a:lnTo>
                <a:lnTo>
                  <a:pt x="0" y="7910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77579" y="5544581"/>
            <a:ext cx="11301259" cy="2330885"/>
          </a:xfrm>
          <a:custGeom>
            <a:avLst/>
            <a:gdLst/>
            <a:ahLst/>
            <a:cxnLst/>
            <a:rect r="r" b="b" t="t" l="l"/>
            <a:pathLst>
              <a:path h="2330885" w="11301259">
                <a:moveTo>
                  <a:pt x="0" y="0"/>
                </a:moveTo>
                <a:lnTo>
                  <a:pt x="11301259" y="0"/>
                </a:lnTo>
                <a:lnTo>
                  <a:pt x="11301259" y="2330884"/>
                </a:lnTo>
                <a:lnTo>
                  <a:pt x="0" y="23308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177579" y="8085015"/>
            <a:ext cx="11301259" cy="1370278"/>
          </a:xfrm>
          <a:custGeom>
            <a:avLst/>
            <a:gdLst/>
            <a:ahLst/>
            <a:cxnLst/>
            <a:rect r="r" b="b" t="t" l="l"/>
            <a:pathLst>
              <a:path h="1370278" w="11301259">
                <a:moveTo>
                  <a:pt x="0" y="0"/>
                </a:moveTo>
                <a:lnTo>
                  <a:pt x="11301259" y="0"/>
                </a:lnTo>
                <a:lnTo>
                  <a:pt x="11301259" y="1370278"/>
                </a:lnTo>
                <a:lnTo>
                  <a:pt x="0" y="13702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92935"/>
            <a:ext cx="4862870" cy="795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79"/>
              </a:lnSpc>
              <a:spcBef>
                <a:spcPct val="0"/>
              </a:spcBef>
            </a:pPr>
            <a:r>
              <a:rPr lang="en-US" sz="4699">
                <a:solidFill>
                  <a:srgbClr val="AAF38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Hybrid Model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727876" y="2045674"/>
            <a:ext cx="6725842" cy="198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Signal                                               Weight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----------------------------------------------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Cosine similarity (TF-IDF content)     55%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Jaccard genre similarity                     40%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6F8F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Normalised final score (quality)        5%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6641590"/>
            <a:ext cx="11301259" cy="2412628"/>
          </a:xfrm>
          <a:custGeom>
            <a:avLst/>
            <a:gdLst/>
            <a:ahLst/>
            <a:cxnLst/>
            <a:rect r="r" b="b" t="t" l="l"/>
            <a:pathLst>
              <a:path h="2412628" w="11301259">
                <a:moveTo>
                  <a:pt x="0" y="0"/>
                </a:moveTo>
                <a:lnTo>
                  <a:pt x="11301258" y="0"/>
                </a:lnTo>
                <a:lnTo>
                  <a:pt x="11301258" y="2412628"/>
                </a:lnTo>
                <a:lnTo>
                  <a:pt x="0" y="24126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93371" y="5058681"/>
            <a:ext cx="11301259" cy="1087797"/>
          </a:xfrm>
          <a:custGeom>
            <a:avLst/>
            <a:gdLst/>
            <a:ahLst/>
            <a:cxnLst/>
            <a:rect r="r" b="b" t="t" l="l"/>
            <a:pathLst>
              <a:path h="1087797" w="11301259">
                <a:moveTo>
                  <a:pt x="0" y="0"/>
                </a:moveTo>
                <a:lnTo>
                  <a:pt x="11301258" y="0"/>
                </a:lnTo>
                <a:lnTo>
                  <a:pt x="11301258" y="1087797"/>
                </a:lnTo>
                <a:lnTo>
                  <a:pt x="0" y="10877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799" t="0" r="-5799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52500"/>
            <a:ext cx="8462657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>
                <a:solidFill>
                  <a:srgbClr val="AAF38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Rating-Based Personalisation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93371" y="2376208"/>
            <a:ext cx="10536991" cy="2113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7"/>
              </a:lnSpc>
              <a:spcBef>
                <a:spcPct val="0"/>
              </a:spcBef>
            </a:pPr>
            <a:r>
              <a:rPr lang="en-US" sz="3040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• User rates movies (1–5 stars)</a:t>
            </a:r>
          </a:p>
          <a:p>
            <a:pPr algn="ctr">
              <a:lnSpc>
                <a:spcPts val="4257"/>
              </a:lnSpc>
              <a:spcBef>
                <a:spcPct val="0"/>
              </a:spcBef>
            </a:pPr>
            <a:r>
              <a:rPr lang="en-US" sz="3040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• System builds user profile from liked movies</a:t>
            </a:r>
          </a:p>
          <a:p>
            <a:pPr algn="ctr">
              <a:lnSpc>
                <a:spcPts val="4257"/>
              </a:lnSpc>
              <a:spcBef>
                <a:spcPct val="0"/>
              </a:spcBef>
            </a:pPr>
            <a:r>
              <a:rPr lang="en-US" sz="3040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• profile = Σ (rating/5) × similarity</a:t>
            </a:r>
          </a:p>
          <a:p>
            <a:pPr algn="ctr">
              <a:lnSpc>
                <a:spcPts val="4257"/>
              </a:lnSpc>
              <a:spcBef>
                <a:spcPct val="0"/>
              </a:spcBef>
            </a:pPr>
            <a:r>
              <a:rPr lang="en-US" sz="3040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• Recommends movies based on user preferences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353407"/>
            <a:ext cx="6296109" cy="6904893"/>
          </a:xfrm>
          <a:custGeom>
            <a:avLst/>
            <a:gdLst/>
            <a:ahLst/>
            <a:cxnLst/>
            <a:rect r="r" b="b" t="t" l="l"/>
            <a:pathLst>
              <a:path h="6904893" w="6296109">
                <a:moveTo>
                  <a:pt x="0" y="0"/>
                </a:moveTo>
                <a:lnTo>
                  <a:pt x="6296109" y="0"/>
                </a:lnTo>
                <a:lnTo>
                  <a:pt x="6296109" y="6904893"/>
                </a:lnTo>
                <a:lnTo>
                  <a:pt x="0" y="69048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7331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49473" y="1277621"/>
            <a:ext cx="4431030" cy="705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AAF38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Model Evaluation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99397" y="2286732"/>
            <a:ext cx="10588603" cy="6357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8"/>
              </a:lnSpc>
              <a:spcBef>
                <a:spcPct val="0"/>
              </a:spcBef>
            </a:pPr>
            <a:r>
              <a:rPr lang="en-US" sz="3591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• Genre is the strongest signal for   recommendations</a:t>
            </a:r>
          </a:p>
          <a:p>
            <a:pPr algn="l">
              <a:lnSpc>
                <a:spcPts val="5028"/>
              </a:lnSpc>
              <a:spcBef>
                <a:spcPct val="0"/>
              </a:spcBef>
            </a:pPr>
            <a:r>
              <a:rPr lang="en-US" sz="3591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• Popularity is highly skewed → log transform is needed</a:t>
            </a:r>
          </a:p>
          <a:p>
            <a:pPr algn="l">
              <a:lnSpc>
                <a:spcPts val="5028"/>
              </a:lnSpc>
              <a:spcBef>
                <a:spcPct val="0"/>
              </a:spcBef>
            </a:pPr>
            <a:r>
              <a:rPr lang="en-US" sz="3591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• TF-IDF (min 2 terms) gives better results than stricter limits</a:t>
            </a:r>
          </a:p>
          <a:p>
            <a:pPr algn="l">
              <a:lnSpc>
                <a:spcPts val="5028"/>
              </a:lnSpc>
              <a:spcBef>
                <a:spcPct val="0"/>
              </a:spcBef>
            </a:pPr>
            <a:r>
              <a:rPr lang="en-US" sz="3591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• Fixing genre parsing improved recommendation accuracy</a:t>
            </a:r>
          </a:p>
          <a:p>
            <a:pPr algn="l">
              <a:lnSpc>
                <a:spcPts val="5028"/>
              </a:lnSpc>
              <a:spcBef>
                <a:spcPct val="0"/>
              </a:spcBef>
            </a:pPr>
            <a:r>
              <a:rPr lang="en-US" sz="3591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• Similarity matrix is sparse → movies share less common words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33349" y="1303656"/>
            <a:ext cx="3215402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AAF38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Key Findings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3093" y="2505410"/>
            <a:ext cx="8082045" cy="5898029"/>
          </a:xfrm>
          <a:custGeom>
            <a:avLst/>
            <a:gdLst/>
            <a:ahLst/>
            <a:cxnLst/>
            <a:rect r="r" b="b" t="t" l="l"/>
            <a:pathLst>
              <a:path h="5898029" w="8082045">
                <a:moveTo>
                  <a:pt x="0" y="0"/>
                </a:moveTo>
                <a:lnTo>
                  <a:pt x="8082044" y="0"/>
                </a:lnTo>
                <a:lnTo>
                  <a:pt x="8082044" y="5898029"/>
                </a:lnTo>
                <a:lnTo>
                  <a:pt x="0" y="58980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47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37600" y="2505410"/>
            <a:ext cx="7521700" cy="5898029"/>
          </a:xfrm>
          <a:custGeom>
            <a:avLst/>
            <a:gdLst/>
            <a:ahLst/>
            <a:cxnLst/>
            <a:rect r="r" b="b" t="t" l="l"/>
            <a:pathLst>
              <a:path h="5898029" w="7521700">
                <a:moveTo>
                  <a:pt x="0" y="0"/>
                </a:moveTo>
                <a:lnTo>
                  <a:pt x="7521700" y="0"/>
                </a:lnTo>
                <a:lnTo>
                  <a:pt x="7521700" y="5898029"/>
                </a:lnTo>
                <a:lnTo>
                  <a:pt x="0" y="58980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837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14400"/>
            <a:ext cx="3621167" cy="913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sz="5299">
                <a:solidFill>
                  <a:srgbClr val="AAF38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 App Demo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49564" y="8869045"/>
            <a:ext cx="5800606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Recommendations for the selected movie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056806" y="8869045"/>
            <a:ext cx="5096709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Recommendations based on ratings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35087" y="4179329"/>
            <a:ext cx="2472214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Github Link: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755303" y="4188854"/>
            <a:ext cx="12262071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u="sng">
                <a:solidFill>
                  <a:srgbClr val="FFFFFF"/>
                </a:solidFill>
                <a:latin typeface="Tex Gyre Bonum"/>
                <a:ea typeface="Tex Gyre Bonum"/>
                <a:cs typeface="Tex Gyre Bonum"/>
                <a:sym typeface="Tex Gyre Bonum"/>
                <a:hlinkClick r:id="rId2" tooltip="http://github.com/idsaturn07/movie_recommendation_system_in_R"/>
              </a:rPr>
              <a:t>github.com/idsaturn07/movie_recommendation_system_in_R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91185" y="5029200"/>
            <a:ext cx="6257647" cy="101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5999">
                <a:solidFill>
                  <a:srgbClr val="AAF386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DAHFU3EHJ2g</dc:identifier>
  <dcterms:modified xsi:type="dcterms:W3CDTF">2011-08-01T06:04:30Z</dcterms:modified>
  <cp:revision>1</cp:revision>
  <dc:title>Movie Recommendation System</dc:title>
</cp:coreProperties>
</file>